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9" r:id="rId5"/>
    <p:sldId id="279" r:id="rId6"/>
    <p:sldId id="260" r:id="rId7"/>
    <p:sldId id="274" r:id="rId8"/>
    <p:sldId id="278" r:id="rId9"/>
    <p:sldId id="275" r:id="rId10"/>
    <p:sldId id="276" r:id="rId11"/>
    <p:sldId id="27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D9D9D9"/>
    <a:srgbClr val="8CB591"/>
    <a:srgbClr val="B99A3A"/>
    <a:srgbClr val="83C63A"/>
    <a:srgbClr val="156082"/>
    <a:srgbClr val="F2F2F2"/>
    <a:srgbClr val="8B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04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F0E76-DA99-44F9-9AC4-6312336C67D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00ABC-857A-4B1C-889D-9923B2959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00ABC-857A-4B1C-889D-9923B2959A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36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2DD3-F503-9E7F-E075-469297CDC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FF24B-73B4-D454-89AC-2BCDAA6B9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36F2B-0706-B210-B7C1-E310196C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B4E1C-5DC9-78D4-A889-B5AD484B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5C091-2DCC-3723-5387-099C8BCD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1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67148-4950-6637-4AFC-FA7DA3ADD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31F53-FDEA-75B1-BBA7-58BC6F7BA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B6F0D-280F-9971-559D-0F8BF7B5C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B6937-DD62-35A7-BC3F-EBCDF6887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08525-AE92-89BF-AB89-2673E704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6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0ADB-B625-C515-785C-94D1E0492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B51D-3AC6-F5D7-DD11-5F8C56F4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D7A7F-CADE-ED78-E499-793FAA78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88C51-26B8-6331-5FA4-8B9C9B73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7FDC5-DDEB-8088-5AA3-DEA37D26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9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9E5C-19BF-77D7-E2E2-C925B154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73B5-83FE-DC1D-F17D-D65B51D19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900DF-3A4E-A9D3-B9B8-78B08FC1F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97507-379D-F179-9C1D-9E53225A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61C9C-BCEB-5641-BD64-6BE361BC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0A262-C9D4-1630-96E1-9DED6F71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7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F045-2A86-F67A-57DA-A9B78DCB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CB53E-075A-1FC7-1080-40DB8FD2D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ABAB1-BCAF-78F2-2935-9CB37A001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EEC98-0E09-75E4-0030-3FA57B13D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48D58-05E9-DF24-67E2-A9D3342C0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2A970-86E1-0B4E-3FE8-18E61E0C4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284F7-E18A-05E1-EAB2-11F0E383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0262C-0F71-E14B-AE52-53E49682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0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0DF3D-62A4-DEE5-06AF-6CFC43CD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64DC7-DAE2-116E-73A1-AF039C00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2A485-8D89-0028-5C39-B39C1FB6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CCC03-C4C2-0F94-55CF-8571AF9B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2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AEE12-5D0F-8712-04DC-13DA7672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C1490-2D6E-3622-C6F1-D404302C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A05DF-9844-EA52-C2D7-8F8B1078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4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60F7-4235-18DE-DD71-5EA743A8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9EF5-4B4C-1622-EC19-EF51E05D5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94948-C8DC-7D74-DF7C-3DA24B98A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A1F12-1917-6446-8482-B26093A5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14BDD-C93D-9D4C-997B-402B5C63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5F206-8A5A-9B79-899A-71F11FF0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B3F2-362B-A6DD-6E14-366611D2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70D74-EA34-AB91-86E3-3EF84E99C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80C39-6264-3536-E925-94FC709A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E0232-122E-AB6F-B7C2-40F64042D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9DE21-39BA-3582-2EC1-4539D256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CE99E-CEC9-1ED2-8246-B89EAAA0D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5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3F75-9521-882B-730D-C442C9DF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35985-3251-EAA9-7593-74AB7BADD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97073-DBAD-113B-D8F9-11A3FBE1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646D-F08D-CF94-9AC2-11DAE01F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F9184-9090-DF62-E186-77972D0C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01D3F-EBF4-2D25-2DC3-4BAB7AF81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2E4CA-912B-4A93-D4B8-272F2E291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DC59A-946D-8E73-4FD7-263BA9C2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ADD40-DF0F-B987-07F7-0523F70C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7754B-1C27-0E61-1B2C-4863A891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01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5848A-BF24-B3CF-2BDF-797A973F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15341-AD87-1875-2AD9-911132D2B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67447-94B4-429B-4A5D-C6CD69F2F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72B0A-F1BD-4C66-B6D7-E45A072CE63A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7645-B091-5910-F96B-1A53A2246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FEDB7-3398-B4C7-5839-726CB0E4E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521A6-5D0B-406C-A592-742E54EC5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4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deepai.github.io/InstaNovo/tutorials/getting_started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gif"/><Relationship Id="rId18" Type="http://schemas.openxmlformats.org/officeDocument/2006/relationships/image" Target="../media/image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hyperlink" Target="https://chem.libretexts.org/Courses/CSU_Chico/CSU_Chico%3A_CHEM_451_-_Biochemistry_I/CHEM_451_Test/04%3A_Protein_Structure/4.2%3A_Composition%2C_Sequence_and_Conformational_Analysis_of_Proteins/B2._Sequence_Determination_Using_Mass_Spectrometry?utm_source=chatgpt.com" TargetMode="External"/><Relationship Id="rId2" Type="http://schemas.openxmlformats.org/officeDocument/2006/relationships/image" Target="../media/image2.svg"/><Relationship Id="rId16" Type="http://schemas.openxmlformats.org/officeDocument/2006/relationships/hyperlink" Target="https://pel.caltech.edu/approach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hyperlink" Target="https://csbiology.github.io/BIO-BTE-06-L-7/NB02a_Mass_spectrometry_based_proteomics.html" TargetMode="External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jpe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infor.com/denovo-tutoria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eomecentral.proteomexchange.org/cgi/GetDataset?ID=PXD010595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emf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instadeepai.github.io/InstaNovo/notebooks/getting_started_with_instanovo/#loading-the-nine-species-datase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2C7A-EC8E-7273-30E9-E66175908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155" y="1122363"/>
            <a:ext cx="11338559" cy="2387600"/>
          </a:xfrm>
        </p:spPr>
        <p:txBody>
          <a:bodyPr>
            <a:normAutofit/>
          </a:bodyPr>
          <a:lstStyle/>
          <a:p>
            <a:r>
              <a:rPr lang="en-US" sz="4000" dirty="0"/>
              <a:t>Bacterial </a:t>
            </a:r>
            <a:r>
              <a:rPr lang="en-US" sz="4000" b="1" dirty="0"/>
              <a:t>Fine-Tuning of </a:t>
            </a:r>
            <a:r>
              <a:rPr lang="en-US" sz="4000" b="1" dirty="0" err="1"/>
              <a:t>InstaNovo</a:t>
            </a:r>
            <a:r>
              <a:rPr lang="en-US" sz="4000" b="1" dirty="0"/>
              <a:t> </a:t>
            </a:r>
            <a:br>
              <a:rPr lang="en-US" sz="4000" b="1" dirty="0"/>
            </a:br>
            <a:r>
              <a:rPr lang="en-US" sz="4000" dirty="0"/>
              <a:t>for Large-Scale Wastewater </a:t>
            </a:r>
            <a:r>
              <a:rPr lang="en-US" sz="4000" b="1" dirty="0"/>
              <a:t>Proteomics</a:t>
            </a:r>
            <a:r>
              <a:rPr lang="en-US" sz="40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5B8C0-0A46-6A4E-2276-E025A574C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234" y="4280032"/>
            <a:ext cx="9020593" cy="1655762"/>
          </a:xfrm>
        </p:spPr>
        <p:txBody>
          <a:bodyPr>
            <a:normAutofit/>
          </a:bodyPr>
          <a:lstStyle/>
          <a:p>
            <a:pPr algn="r"/>
            <a:r>
              <a:rPr lang="en-US" sz="2000" dirty="0"/>
              <a:t>W</a:t>
            </a:r>
            <a:r>
              <a:rPr lang="en-US" altLang="zh-CN" sz="2000" dirty="0"/>
              <a:t>enjing Yang</a:t>
            </a:r>
          </a:p>
          <a:p>
            <a:pPr algn="r"/>
            <a:r>
              <a:rPr lang="en-US" sz="2000" dirty="0"/>
              <a:t>04/01/2026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584E7-7D2B-BCA5-D2CB-5306645A7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85" r="2313"/>
          <a:stretch>
            <a:fillRect/>
          </a:stretch>
        </p:blipFill>
        <p:spPr>
          <a:xfrm>
            <a:off x="384579" y="5112112"/>
            <a:ext cx="2505934" cy="7087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87D08A-22AD-F900-0334-17C1A8F6A51A}"/>
              </a:ext>
            </a:extLst>
          </p:cNvPr>
          <p:cNvSpPr txBox="1"/>
          <p:nvPr/>
        </p:nvSpPr>
        <p:spPr>
          <a:xfrm>
            <a:off x="496229" y="5623950"/>
            <a:ext cx="6095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Quick overview - </a:t>
            </a:r>
            <a:r>
              <a:rPr lang="en-US" dirty="0" err="1">
                <a:hlinkClick r:id="rId3"/>
              </a:rPr>
              <a:t>InstaNovo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38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B08AE7-528E-D52D-7072-DF8AF76E2F6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59534" y="1453426"/>
            <a:ext cx="2303334" cy="2042798"/>
          </a:xfrm>
          <a:prstGeom prst="roundRect">
            <a:avLst>
              <a:gd name="adj" fmla="val 13219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0B1C9-EB01-FD01-C209-2CD6EA55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349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1 B</a:t>
            </a:r>
            <a:r>
              <a:rPr lang="en-US" altLang="zh-CN" sz="4000" b="1" dirty="0"/>
              <a:t>ackground and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motivation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E463-18C3-38F7-BF24-407964863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012" y="3448288"/>
            <a:ext cx="10381453" cy="97417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800" dirty="0"/>
              <a:t>Understanding the </a:t>
            </a:r>
            <a:r>
              <a:rPr lang="en-US" sz="1800" b="1" dirty="0"/>
              <a:t>bacterial functions and mechanisms</a:t>
            </a:r>
            <a:r>
              <a:rPr lang="en-US" sz="1800" dirty="0"/>
              <a:t> is essential for wastewater plants.  </a:t>
            </a:r>
            <a:r>
              <a:rPr lang="en-US" sz="1800" b="1" u="sng" dirty="0">
                <a:solidFill>
                  <a:srgbClr val="C00000"/>
                </a:solidFill>
              </a:rPr>
              <a:t>Bacterial Proteomics</a:t>
            </a:r>
            <a:endParaRPr lang="en-US" altLang="zh-CN" sz="1800" b="1" dirty="0"/>
          </a:p>
          <a:p>
            <a:pPr>
              <a:lnSpc>
                <a:spcPct val="120000"/>
              </a:lnSpc>
            </a:pPr>
            <a:endParaRPr lang="en-US" sz="1800" dirty="0"/>
          </a:p>
        </p:txBody>
      </p:sp>
      <p:pic>
        <p:nvPicPr>
          <p:cNvPr id="17" name="Graphic 16" descr="Medicine outline">
            <a:extLst>
              <a:ext uri="{FF2B5EF4-FFF2-40B4-BE49-F238E27FC236}">
                <a16:creationId xmlns:a16="http://schemas.microsoft.com/office/drawing/2014/main" id="{9A60B657-8947-7E35-27A3-4AAE3FCE1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574" y="2495326"/>
            <a:ext cx="594485" cy="594485"/>
          </a:xfrm>
          <a:prstGeom prst="rect">
            <a:avLst/>
          </a:prstGeom>
        </p:spPr>
      </p:pic>
      <p:pic>
        <p:nvPicPr>
          <p:cNvPr id="19" name="Graphic 18" descr="Needle outline">
            <a:extLst>
              <a:ext uri="{FF2B5EF4-FFF2-40B4-BE49-F238E27FC236}">
                <a16:creationId xmlns:a16="http://schemas.microsoft.com/office/drawing/2014/main" id="{BED1181B-01C3-203B-2D02-D0ABA5EEF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340" y="2525396"/>
            <a:ext cx="522345" cy="52234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871E6EC-1E73-2847-E146-7F8068388F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294205" y="1617047"/>
            <a:ext cx="570088" cy="45631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B9E610A3-D756-701C-A688-9902EE7ED7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4063" y="1781964"/>
            <a:ext cx="713362" cy="71336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BFB89F0-1BE9-D212-2D75-43033D82C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0519" y="1778901"/>
            <a:ext cx="680060" cy="68006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9823F0-A954-18ED-89ED-6C828847A2CE}"/>
              </a:ext>
            </a:extLst>
          </p:cNvPr>
          <p:cNvSpPr/>
          <p:nvPr/>
        </p:nvSpPr>
        <p:spPr>
          <a:xfrm>
            <a:off x="1046260" y="1234911"/>
            <a:ext cx="1689345" cy="2858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Influent flow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B0376DE-2176-6037-00D0-5D2F8B826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429409">
            <a:off x="2562788" y="2580321"/>
            <a:ext cx="368465" cy="450325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B7B221-88E4-4C13-95F7-E48F9DED8E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888418" y="1408317"/>
            <a:ext cx="4280435" cy="2087907"/>
          </a:xfrm>
          <a:prstGeom prst="roundRect">
            <a:avLst>
              <a:gd name="adj" fmla="val 8733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C60C5CC-0DA6-B989-FAAB-A4EDF9141A22}"/>
              </a:ext>
            </a:extLst>
          </p:cNvPr>
          <p:cNvSpPr/>
          <p:nvPr/>
        </p:nvSpPr>
        <p:spPr>
          <a:xfrm>
            <a:off x="8217790" y="2121644"/>
            <a:ext cx="722917" cy="313891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63F300-B523-2834-5F43-BEA30D134A86}"/>
              </a:ext>
            </a:extLst>
          </p:cNvPr>
          <p:cNvSpPr/>
          <p:nvPr/>
        </p:nvSpPr>
        <p:spPr>
          <a:xfrm>
            <a:off x="4193921" y="1685610"/>
            <a:ext cx="926529" cy="2662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56754C-ABA4-5993-4839-585C99171B44}"/>
              </a:ext>
            </a:extLst>
          </p:cNvPr>
          <p:cNvGrpSpPr/>
          <p:nvPr/>
        </p:nvGrpSpPr>
        <p:grpSpPr>
          <a:xfrm>
            <a:off x="4022012" y="1604399"/>
            <a:ext cx="3826888" cy="1265820"/>
            <a:chOff x="4284413" y="1513005"/>
            <a:chExt cx="3682016" cy="116291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9BF986E-BA63-30EC-E079-245726015E99}"/>
                </a:ext>
              </a:extLst>
            </p:cNvPr>
            <p:cNvGrpSpPr/>
            <p:nvPr/>
          </p:nvGrpSpPr>
          <p:grpSpPr>
            <a:xfrm>
              <a:off x="4284413" y="1513005"/>
              <a:ext cx="3682016" cy="1162913"/>
              <a:chOff x="4284414" y="1513005"/>
              <a:chExt cx="3639723" cy="1162913"/>
            </a:xfrm>
            <a:noFill/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C14928FA-8DEB-0866-763A-9E6B0DBB4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1" r="3732" b="-1"/>
              <a:stretch>
                <a:fillRect/>
              </a:stretch>
            </p:blipFill>
            <p:spPr>
              <a:xfrm>
                <a:off x="4284414" y="1513005"/>
                <a:ext cx="3639723" cy="1162913"/>
              </a:xfrm>
              <a:prstGeom prst="rect">
                <a:avLst/>
              </a:prstGeom>
              <a:grpFill/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07D8AE3-7E27-F385-C44B-0D3153742F10}"/>
                  </a:ext>
                </a:extLst>
              </p:cNvPr>
              <p:cNvSpPr/>
              <p:nvPr/>
            </p:nvSpPr>
            <p:spPr>
              <a:xfrm>
                <a:off x="6096000" y="2377093"/>
                <a:ext cx="915887" cy="266210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F4FE8CA-C91B-FF8C-F2A2-CE7F2AB77590}"/>
                </a:ext>
              </a:extLst>
            </p:cNvPr>
            <p:cNvSpPr/>
            <p:nvPr/>
          </p:nvSpPr>
          <p:spPr>
            <a:xfrm>
              <a:off x="4473869" y="1574080"/>
              <a:ext cx="660152" cy="1331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82BBD93-F6C4-D7B6-97F3-805D217C0C89}"/>
                </a:ext>
              </a:extLst>
            </p:cNvPr>
            <p:cNvSpPr/>
            <p:nvPr/>
          </p:nvSpPr>
          <p:spPr>
            <a:xfrm>
              <a:off x="5920160" y="2360890"/>
              <a:ext cx="1123417" cy="282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770718D-DBF5-6524-2145-92E734DAEB3A}"/>
              </a:ext>
            </a:extLst>
          </p:cNvPr>
          <p:cNvSpPr/>
          <p:nvPr/>
        </p:nvSpPr>
        <p:spPr>
          <a:xfrm>
            <a:off x="4194693" y="1231541"/>
            <a:ext cx="3414172" cy="2858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W</a:t>
            </a:r>
            <a:r>
              <a:rPr lang="en-US" altLang="zh-CN" sz="1600" b="1" dirty="0"/>
              <a:t>astewater treatment</a:t>
            </a:r>
            <a:endParaRPr lang="en-US" sz="1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16348D-84F4-35C1-3979-040E341CE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099" y="2592829"/>
            <a:ext cx="1391637" cy="803967"/>
          </a:xfrm>
          <a:prstGeom prst="wedgeEllipseCallout">
            <a:avLst>
              <a:gd name="adj1" fmla="val 60886"/>
              <a:gd name="adj2" fmla="val -58857"/>
            </a:avLst>
          </a:prstGeom>
          <a:noFill/>
          <a:ln w="127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8B7FD11A-0241-C866-D35C-75D823E53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5251" y="2525396"/>
            <a:ext cx="689647" cy="689647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9AF84B9-266B-C82C-8B93-7DCF787046A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996406" y="1405293"/>
            <a:ext cx="2357394" cy="2087907"/>
          </a:xfrm>
          <a:prstGeom prst="roundRect">
            <a:avLst>
              <a:gd name="adj" fmla="val 10633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b="1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127C268-5599-01D9-96B6-C9784C9426A9}"/>
              </a:ext>
            </a:extLst>
          </p:cNvPr>
          <p:cNvSpPr/>
          <p:nvPr/>
        </p:nvSpPr>
        <p:spPr>
          <a:xfrm>
            <a:off x="9238401" y="1240338"/>
            <a:ext cx="1873404" cy="2858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Outputs</a:t>
            </a:r>
          </a:p>
        </p:txBody>
      </p:sp>
      <p:sp>
        <p:nvSpPr>
          <p:cNvPr id="1029" name="Arrow: Right 1028">
            <a:extLst>
              <a:ext uri="{FF2B5EF4-FFF2-40B4-BE49-F238E27FC236}">
                <a16:creationId xmlns:a16="http://schemas.microsoft.com/office/drawing/2014/main" id="{CC50D3DF-7933-F4C8-988C-67C717DBACA5}"/>
              </a:ext>
            </a:extLst>
          </p:cNvPr>
          <p:cNvSpPr/>
          <p:nvPr/>
        </p:nvSpPr>
        <p:spPr>
          <a:xfrm>
            <a:off x="3119887" y="2145070"/>
            <a:ext cx="708810" cy="313891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Graphic 1031">
            <a:extLst>
              <a:ext uri="{FF2B5EF4-FFF2-40B4-BE49-F238E27FC236}">
                <a16:creationId xmlns:a16="http://schemas.microsoft.com/office/drawing/2014/main" id="{92A87D4B-97A1-D6B5-D580-47F4A9975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72820" y="2193829"/>
            <a:ext cx="904471" cy="851267"/>
          </a:xfrm>
          <a:prstGeom prst="rect">
            <a:avLst/>
          </a:prstGeom>
        </p:spPr>
      </p:pic>
      <p:pic>
        <p:nvPicPr>
          <p:cNvPr id="1033" name="Graphic 1032">
            <a:extLst>
              <a:ext uri="{FF2B5EF4-FFF2-40B4-BE49-F238E27FC236}">
                <a16:creationId xmlns:a16="http://schemas.microsoft.com/office/drawing/2014/main" id="{D87BE8E9-317C-9751-E4C7-7D74F4345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2997">
            <a:off x="9438487" y="2627980"/>
            <a:ext cx="210780" cy="257609"/>
          </a:xfrm>
          <a:prstGeom prst="rect">
            <a:avLst/>
          </a:prstGeom>
        </p:spPr>
      </p:pic>
      <p:pic>
        <p:nvPicPr>
          <p:cNvPr id="1039" name="Graphic 1038">
            <a:extLst>
              <a:ext uri="{FF2B5EF4-FFF2-40B4-BE49-F238E27FC236}">
                <a16:creationId xmlns:a16="http://schemas.microsoft.com/office/drawing/2014/main" id="{990AA4EF-B639-C7EF-F7F4-9BF49530D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32990" y="1896860"/>
            <a:ext cx="1154637" cy="1391937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2C20F87-1AFA-6D2C-03A1-853267BC90C6}"/>
              </a:ext>
            </a:extLst>
          </p:cNvPr>
          <p:cNvGrpSpPr/>
          <p:nvPr/>
        </p:nvGrpSpPr>
        <p:grpSpPr>
          <a:xfrm>
            <a:off x="502885" y="4086996"/>
            <a:ext cx="11257911" cy="2799210"/>
            <a:chOff x="517173" y="4245117"/>
            <a:chExt cx="11257911" cy="27992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B12D06-E17B-FA5C-AD70-9EB9D7BD3E1B}"/>
                </a:ext>
              </a:extLst>
            </p:cNvPr>
            <p:cNvSpPr txBox="1"/>
            <p:nvPr/>
          </p:nvSpPr>
          <p:spPr>
            <a:xfrm>
              <a:off x="3201862" y="5030443"/>
              <a:ext cx="4470242" cy="4095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b="1" dirty="0"/>
                <a:t>Spectra</a:t>
              </a:r>
              <a:endParaRPr lang="en-US" dirty="0"/>
            </a:p>
          </p:txBody>
        </p:sp>
        <p:pic>
          <p:nvPicPr>
            <p:cNvPr id="8" name="Picture 2" descr="B2. Sequence Determination Using Mass Spectrometry - Chemistry LibreTexts">
              <a:extLst>
                <a:ext uri="{FF2B5EF4-FFF2-40B4-BE49-F238E27FC236}">
                  <a16:creationId xmlns:a16="http://schemas.microsoft.com/office/drawing/2014/main" id="{3C37A4BD-6AD5-5B76-71C5-4DD7C25C25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550" b="-695"/>
            <a:stretch>
              <a:fillRect/>
            </a:stretch>
          </p:blipFill>
          <p:spPr bwMode="auto">
            <a:xfrm>
              <a:off x="826495" y="4452544"/>
              <a:ext cx="2333570" cy="22195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B8E69F-C5EA-498C-8C9F-77D2FF76392E}"/>
                </a:ext>
              </a:extLst>
            </p:cNvPr>
            <p:cNvSpPr txBox="1"/>
            <p:nvPr/>
          </p:nvSpPr>
          <p:spPr>
            <a:xfrm>
              <a:off x="5690016" y="4950368"/>
              <a:ext cx="248148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/>
                <a:t>Peptide sequenc</a:t>
              </a:r>
              <a:r>
                <a:rPr lang="en-US" altLang="zh-CN" sz="1800" b="1" dirty="0"/>
                <a:t>ing</a:t>
              </a:r>
              <a:endParaRPr lang="en-US" sz="1800" b="1" dirty="0"/>
            </a:p>
            <a:p>
              <a:r>
                <a:rPr lang="en-US" sz="1800" b="1" dirty="0"/>
                <a:t>(</a:t>
              </a:r>
              <a:r>
                <a:rPr lang="zh-CN" altLang="en-US" sz="1800" b="1" dirty="0"/>
                <a:t> </a:t>
              </a:r>
              <a:r>
                <a:rPr lang="en-US" altLang="zh-CN" sz="1800" b="1" dirty="0"/>
                <a:t>a</a:t>
              </a:r>
              <a:r>
                <a:rPr lang="zh-CN" altLang="en-US" sz="1800" b="1" dirty="0"/>
                <a:t> </a:t>
              </a:r>
              <a:r>
                <a:rPr lang="en-US" altLang="zh-CN" sz="1800" b="1" dirty="0"/>
                <a:t>set</a:t>
              </a:r>
              <a:r>
                <a:rPr lang="zh-CN" altLang="en-US" sz="1800" b="1" dirty="0"/>
                <a:t> </a:t>
              </a:r>
              <a:r>
                <a:rPr lang="en-US" altLang="zh-CN" sz="1800" b="1" dirty="0"/>
                <a:t>of</a:t>
              </a:r>
              <a:r>
                <a:rPr lang="zh-CN" altLang="en-US" sz="1800" b="1" dirty="0"/>
                <a:t> </a:t>
              </a:r>
              <a:r>
                <a:rPr lang="en-US" altLang="zh-CN" sz="1800" b="1" dirty="0"/>
                <a:t>amino</a:t>
              </a:r>
              <a:r>
                <a:rPr lang="zh-CN" altLang="en-US" sz="1800" b="1" dirty="0"/>
                <a:t> </a:t>
              </a:r>
              <a:r>
                <a:rPr lang="en-US" altLang="zh-CN" sz="1800" b="1" dirty="0"/>
                <a:t>acids)</a:t>
              </a:r>
              <a:r>
                <a:rPr lang="en-US" sz="1800" b="1" dirty="0"/>
                <a:t> </a:t>
              </a:r>
              <a:endParaRPr lang="en-US" dirty="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9E4851E-B910-EB1B-A882-2FEEFAD19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925" y="4245117"/>
              <a:ext cx="3001460" cy="24465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383B914A-96C9-3B92-F1FF-C6B5A5CF9C43}"/>
                </a:ext>
              </a:extLst>
            </p:cNvPr>
            <p:cNvSpPr/>
            <p:nvPr/>
          </p:nvSpPr>
          <p:spPr>
            <a:xfrm>
              <a:off x="4328131" y="5078019"/>
              <a:ext cx="1228786" cy="313891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5BD2DB-3158-1483-4D42-07B2FA68709E}"/>
                </a:ext>
              </a:extLst>
            </p:cNvPr>
            <p:cNvSpPr txBox="1"/>
            <p:nvPr/>
          </p:nvSpPr>
          <p:spPr>
            <a:xfrm>
              <a:off x="517173" y="6782717"/>
              <a:ext cx="1125791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hlinkClick r:id="rId15"/>
                </a:rPr>
                <a:t>Figure: NB02a Mass Spectrometry Based Proteomics</a:t>
              </a:r>
              <a:r>
                <a:rPr lang="en-US" sz="1100" dirty="0"/>
                <a:t>, </a:t>
              </a:r>
              <a:r>
                <a:rPr lang="en-US" sz="1100" dirty="0">
                  <a:hlinkClick r:id="rId16"/>
                </a:rPr>
                <a:t>Approach - Proteome Exploration Laboratory</a:t>
              </a:r>
              <a:r>
                <a:rPr lang="en-US" sz="1100" dirty="0"/>
                <a:t>, </a:t>
              </a:r>
              <a:r>
                <a:rPr lang="en-US" sz="1100" dirty="0">
                  <a:hlinkClick r:id="rId17"/>
                </a:rPr>
                <a:t>B2. Sequence Determination Using Mass Spectrometry - Chemistry </a:t>
              </a:r>
              <a:r>
                <a:rPr lang="en-US" sz="1100" dirty="0" err="1">
                  <a:hlinkClick r:id="rId17"/>
                </a:rPr>
                <a:t>LibreTexts</a:t>
              </a:r>
              <a:endParaRPr lang="en-US" sz="1100" dirty="0"/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206596A6-F67D-7CA7-F136-55F1BEA4E8C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759534" y="4342889"/>
              <a:ext cx="10594266" cy="2284171"/>
            </a:xfrm>
            <a:prstGeom prst="roundRect">
              <a:avLst>
                <a:gd name="adj" fmla="val 10633"/>
              </a:avLst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Tx/>
                <a:buChar char="-"/>
              </a:pP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1200" b="1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A76DDAA-1368-8FDF-1705-6B1912771D76}"/>
                </a:ext>
              </a:extLst>
            </p:cNvPr>
            <p:cNvGrpSpPr/>
            <p:nvPr/>
          </p:nvGrpSpPr>
          <p:grpSpPr>
            <a:xfrm>
              <a:off x="3495005" y="5688833"/>
              <a:ext cx="4509752" cy="845087"/>
              <a:chOff x="4107405" y="5562300"/>
              <a:chExt cx="4509752" cy="84508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EAF7AAA-61F2-9DFE-A662-209206A4A28B}"/>
                  </a:ext>
                </a:extLst>
              </p:cNvPr>
              <p:cNvGrpSpPr/>
              <p:nvPr/>
            </p:nvGrpSpPr>
            <p:grpSpPr>
              <a:xfrm>
                <a:off x="4107405" y="5562300"/>
                <a:ext cx="4509752" cy="845087"/>
                <a:chOff x="4079781" y="5158994"/>
                <a:chExt cx="4509752" cy="845087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5756EA3-EC88-BC43-9CD3-C1F950A45052}"/>
                    </a:ext>
                  </a:extLst>
                </p:cNvPr>
                <p:cNvSpPr txBox="1"/>
                <p:nvPr/>
              </p:nvSpPr>
              <p:spPr>
                <a:xfrm>
                  <a:off x="4298518" y="5158994"/>
                  <a:ext cx="125839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AI model</a:t>
                  </a:r>
                </a:p>
              </p:txBody>
            </p:sp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7DC90871-2809-6FBB-EF7C-FC6282EC4A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rcRect t="11685" r="2313"/>
                <a:stretch>
                  <a:fillRect/>
                </a:stretch>
              </p:blipFill>
              <p:spPr>
                <a:xfrm>
                  <a:off x="4079781" y="5562300"/>
                  <a:ext cx="1562636" cy="441780"/>
                </a:xfrm>
                <a:prstGeom prst="rect">
                  <a:avLst/>
                </a:prstGeom>
              </p:spPr>
            </p:pic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327D586E-8B67-4BBC-217D-E1360150BEF1}"/>
                    </a:ext>
                    <a:ext uri="{C183D7F6-B498-43B3-948B-1728B52AA6E4}">
                      <adec:decorative xmlns:adec="http://schemas.microsoft.com/office/drawing/2017/decorative" val="0"/>
                    </a:ext>
                  </a:extLst>
                </p:cNvPr>
                <p:cNvSpPr/>
                <p:nvPr/>
              </p:nvSpPr>
              <p:spPr>
                <a:xfrm>
                  <a:off x="4119291" y="5158995"/>
                  <a:ext cx="4470242" cy="845086"/>
                </a:xfrm>
                <a:prstGeom prst="roundRect">
                  <a:avLst>
                    <a:gd name="adj" fmla="val 10633"/>
                  </a:avLst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171450" indent="-171450">
                    <a:buFontTx/>
                    <a:buChar char="-"/>
                  </a:pPr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buFontTx/>
                    <a:buChar char="-"/>
                  </a:pPr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buFontTx/>
                    <a:buChar char="-"/>
                  </a:pPr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buFontTx/>
                    <a:buChar char="-"/>
                  </a:pPr>
                  <a:endParaRPr lang="en-US" sz="1200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buFontTx/>
                    <a:buChar char="-"/>
                  </a:pPr>
                  <a:endParaRPr lang="en-US" sz="1200" b="1" dirty="0">
                    <a:solidFill>
                      <a:schemeClr val="tx1"/>
                    </a:solidFill>
                  </a:endParaRPr>
                </a:p>
                <a:p>
                  <a:pPr marL="171450" indent="-171450">
                    <a:buFontTx/>
                    <a:buChar char="-"/>
                  </a:pPr>
                  <a:endParaRPr lang="en-US" sz="1200" b="1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D167CB3-52D6-561B-5E05-84B4831ACA45}"/>
                  </a:ext>
                </a:extLst>
              </p:cNvPr>
              <p:cNvSpPr txBox="1"/>
              <p:nvPr/>
            </p:nvSpPr>
            <p:spPr>
              <a:xfrm>
                <a:off x="5555340" y="5968395"/>
                <a:ext cx="24814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/>
                  <a:t>+ Bacteria proteomics  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1A3D5D3-D409-F2EF-C25D-D9F090D1F8AA}"/>
                </a:ext>
              </a:extLst>
            </p:cNvPr>
            <p:cNvSpPr txBox="1"/>
            <p:nvPr/>
          </p:nvSpPr>
          <p:spPr>
            <a:xfrm>
              <a:off x="4707396" y="5731754"/>
              <a:ext cx="24814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/>
                <a:t>+ domain-specific data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85481C0-7719-24A6-A16F-C5A35EF854C1}"/>
                </a:ext>
              </a:extLst>
            </p:cNvPr>
            <p:cNvSpPr txBox="1"/>
            <p:nvPr/>
          </p:nvSpPr>
          <p:spPr>
            <a:xfrm>
              <a:off x="6764015" y="6107516"/>
              <a:ext cx="13385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→</a:t>
              </a:r>
              <a:r>
                <a:rPr lang="en-US" sz="1400" b="1" dirty="0"/>
                <a:t> Fine-Tuning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636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FA23C8-BB99-53FF-8DCA-B45CF37121B4}"/>
              </a:ext>
            </a:extLst>
          </p:cNvPr>
          <p:cNvSpPr txBox="1">
            <a:spLocks/>
          </p:cNvSpPr>
          <p:nvPr/>
        </p:nvSpPr>
        <p:spPr>
          <a:xfrm>
            <a:off x="739016" y="462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2 P</a:t>
            </a:r>
            <a:r>
              <a:rPr lang="en-US" altLang="zh-CN" sz="4000" b="1" dirty="0"/>
              <a:t>roject mind map</a:t>
            </a:r>
            <a:endParaRPr lang="en-US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98E8B-BBFE-0EEA-0E93-BC21EDD5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872" y="1114977"/>
            <a:ext cx="8323397" cy="5140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61764-F1A5-575E-EAE2-A72A1CBAA411}"/>
              </a:ext>
            </a:extLst>
          </p:cNvPr>
          <p:cNvSpPr txBox="1"/>
          <p:nvPr/>
        </p:nvSpPr>
        <p:spPr>
          <a:xfrm>
            <a:off x="1814867" y="6501731"/>
            <a:ext cx="26947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 PSM</a:t>
            </a:r>
            <a:r>
              <a:rPr lang="en-US" altLang="zh-CN" sz="1100" dirty="0"/>
              <a:t>s</a:t>
            </a:r>
            <a:r>
              <a:rPr lang="en-US" sz="1100" dirty="0"/>
              <a:t> = peptide-spectrum matches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7FE1D-0D95-41E0-91F0-65A7FDB1C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188" y="5634909"/>
            <a:ext cx="2424080" cy="40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0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32CBF-BA83-9269-A42F-597BB3AD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B4F5BC-8657-711C-B715-A36A997F5539}"/>
              </a:ext>
            </a:extLst>
          </p:cNvPr>
          <p:cNvSpPr txBox="1">
            <a:spLocks/>
          </p:cNvSpPr>
          <p:nvPr/>
        </p:nvSpPr>
        <p:spPr>
          <a:xfrm>
            <a:off x="838200" y="116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1- </a:t>
            </a:r>
            <a:r>
              <a:rPr lang="en-US" sz="4000" dirty="0"/>
              <a:t>pre-trained model: </a:t>
            </a:r>
            <a:r>
              <a:rPr lang="en-US" altLang="zh-CN" sz="4000" dirty="0" err="1"/>
              <a:t>Instanovo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49ED5-6A1E-6BD4-D1E8-6EFA11B80F1A}"/>
              </a:ext>
            </a:extLst>
          </p:cNvPr>
          <p:cNvSpPr txBox="1"/>
          <p:nvPr/>
        </p:nvSpPr>
        <p:spPr>
          <a:xfrm>
            <a:off x="6464517" y="651944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de novo Sequencing Introduction | Bioinformatics Solutions Inc.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B2614-2AF4-B1B3-6D27-5BB127F68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19" y="1197611"/>
            <a:ext cx="3364852" cy="276817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AFDAEEE-B385-39D7-F28A-F78E0506BB0C}"/>
              </a:ext>
            </a:extLst>
          </p:cNvPr>
          <p:cNvGrpSpPr/>
          <p:nvPr/>
        </p:nvGrpSpPr>
        <p:grpSpPr>
          <a:xfrm>
            <a:off x="973000" y="1048464"/>
            <a:ext cx="8157323" cy="5474105"/>
            <a:chOff x="973604" y="1070441"/>
            <a:chExt cx="8157323" cy="547410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1737E5B-DE67-156B-F955-0ECFF772D29A}"/>
                </a:ext>
              </a:extLst>
            </p:cNvPr>
            <p:cNvGrpSpPr/>
            <p:nvPr/>
          </p:nvGrpSpPr>
          <p:grpSpPr>
            <a:xfrm>
              <a:off x="973604" y="1070441"/>
              <a:ext cx="5940152" cy="5474105"/>
              <a:chOff x="973604" y="1070441"/>
              <a:chExt cx="5940152" cy="547410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664EF3-4AD1-5660-263B-DC2CBB59A6A9}"/>
                  </a:ext>
                </a:extLst>
              </p:cNvPr>
              <p:cNvSpPr txBox="1"/>
              <p:nvPr/>
            </p:nvSpPr>
            <p:spPr>
              <a:xfrm>
                <a:off x="973604" y="1070441"/>
                <a:ext cx="5561012" cy="25453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Model type: </a:t>
                </a:r>
                <a:r>
                  <a:rPr lang="en-US" dirty="0"/>
                  <a:t>Deep learning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Learning type: </a:t>
                </a:r>
                <a:r>
                  <a:rPr lang="en-US" dirty="0"/>
                  <a:t>Supervised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Task: </a:t>
                </a:r>
                <a:r>
                  <a:rPr lang="en-US" dirty="0"/>
                  <a:t>peptide sequencing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Training objective: </a:t>
                </a:r>
                <a:r>
                  <a:rPr lang="en-US" dirty="0"/>
                  <a:t>Token-level classification</a:t>
                </a:r>
                <a:endParaRPr lang="en-US" b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Architecture: Transformer encoder -  decoder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b="1" dirty="0"/>
                  <a:t>Model architecture:</a:t>
                </a:r>
                <a:endParaRPr lang="en-US" sz="1400" b="1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530AFC-2129-A715-CC11-BAFA5B358907}"/>
                  </a:ext>
                </a:extLst>
              </p:cNvPr>
              <p:cNvSpPr txBox="1"/>
              <p:nvPr/>
            </p:nvSpPr>
            <p:spPr>
              <a:xfrm>
                <a:off x="1903642" y="3533016"/>
                <a:ext cx="5010114" cy="30115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Hidden dimension: 768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Encoder layers: 9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Decoder layers: 9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Attention heads: 16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Feed-forward: 2048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Activation function: </a:t>
                </a:r>
                <a:r>
                  <a:rPr lang="en-US" sz="1600" dirty="0" err="1"/>
                  <a:t>ReLU</a:t>
                </a:r>
                <a:endParaRPr lang="en-US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Loss function: </a:t>
                </a:r>
                <a:r>
                  <a:rPr lang="en-US" sz="1600" dirty="0" err="1"/>
                  <a:t>CrossEntropyLoss</a:t>
                </a:r>
                <a:endParaRPr lang="en-US" sz="16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Parameters: 94,619,169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B655521-B0E2-135D-F2A2-4C6870A36311}"/>
                </a:ext>
              </a:extLst>
            </p:cNvPr>
            <p:cNvGrpSpPr/>
            <p:nvPr/>
          </p:nvGrpSpPr>
          <p:grpSpPr>
            <a:xfrm>
              <a:off x="4081037" y="2884097"/>
              <a:ext cx="5049890" cy="440888"/>
              <a:chOff x="4039755" y="4346375"/>
              <a:chExt cx="5049890" cy="44088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A0BF6D-085A-4CEA-FE4C-8A6EF1EF7E27}"/>
                  </a:ext>
                </a:extLst>
              </p:cNvPr>
              <p:cNvSpPr txBox="1"/>
              <p:nvPr/>
            </p:nvSpPr>
            <p:spPr>
              <a:xfrm>
                <a:off x="4254477" y="4465443"/>
                <a:ext cx="4835168" cy="3218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100" dirty="0">
                    <a:solidFill>
                      <a:schemeClr val="bg2">
                        <a:lumMod val="50000"/>
                      </a:schemeClr>
                    </a:solidFill>
                  </a:rPr>
                  <a:t>reads spectra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2A030C4-5635-17EE-7191-32ABA89A050E}"/>
                  </a:ext>
                </a:extLst>
              </p:cNvPr>
              <p:cNvSpPr/>
              <p:nvPr/>
            </p:nvSpPr>
            <p:spPr>
              <a:xfrm>
                <a:off x="4039755" y="4346375"/>
                <a:ext cx="831097" cy="22302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8F51D5A-859E-9636-1138-A12494DEC30C}"/>
                  </a:ext>
                </a:extLst>
              </p:cNvPr>
              <p:cNvSpPr/>
              <p:nvPr/>
            </p:nvSpPr>
            <p:spPr>
              <a:xfrm>
                <a:off x="5069999" y="4346375"/>
                <a:ext cx="914027" cy="223025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9AB9A-89ED-2AEE-507B-36E04B3C3794}"/>
                  </a:ext>
                </a:extLst>
              </p:cNvPr>
              <p:cNvSpPr txBox="1"/>
              <p:nvPr/>
            </p:nvSpPr>
            <p:spPr>
              <a:xfrm>
                <a:off x="5434652" y="4465444"/>
                <a:ext cx="1751733" cy="3218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100" dirty="0">
                    <a:solidFill>
                      <a:schemeClr val="bg2">
                        <a:lumMod val="50000"/>
                      </a:schemeClr>
                    </a:solidFill>
                  </a:rPr>
                  <a:t>generates peptide tokens</a:t>
                </a:r>
                <a:endParaRPr lang="en-US" sz="16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C614211-6CED-1563-3580-1040437C2F15}"/>
              </a:ext>
            </a:extLst>
          </p:cNvPr>
          <p:cNvSpPr txBox="1"/>
          <p:nvPr/>
        </p:nvSpPr>
        <p:spPr>
          <a:xfrm>
            <a:off x="4031368" y="4742734"/>
            <a:ext cx="44669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learn multiple peak-token relationships in parallel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5F8266-6FBA-01EB-2A2E-4BA9835A55D4}"/>
              </a:ext>
            </a:extLst>
          </p:cNvPr>
          <p:cNvSpPr txBox="1"/>
          <p:nvPr/>
        </p:nvSpPr>
        <p:spPr>
          <a:xfrm>
            <a:off x="4353142" y="3647659"/>
            <a:ext cx="6289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the size of the vector representation used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FB79B1C-7E98-FF22-45BC-7D1C35C268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8555" y="5677386"/>
            <a:ext cx="1715839" cy="52361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80BA1D3-51EF-95C8-2A9C-D3AE19593A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1659"/>
          <a:stretch>
            <a:fillRect/>
          </a:stretch>
        </p:blipFill>
        <p:spPr>
          <a:xfrm>
            <a:off x="7683173" y="4102122"/>
            <a:ext cx="4015590" cy="180444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C3F7CCB-2AC2-CF88-41E3-0401EBAB0596}"/>
              </a:ext>
            </a:extLst>
          </p:cNvPr>
          <p:cNvSpPr txBox="1"/>
          <p:nvPr/>
        </p:nvSpPr>
        <p:spPr>
          <a:xfrm>
            <a:off x="4031367" y="5115808"/>
            <a:ext cx="44669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the size of the internal MLP inside each Transformer layer</a:t>
            </a:r>
          </a:p>
        </p:txBody>
      </p:sp>
    </p:spTree>
    <p:extLst>
      <p:ext uri="{BB962C8B-B14F-4D97-AF65-F5344CB8AC3E}">
        <p14:creationId xmlns:p14="http://schemas.microsoft.com/office/powerpoint/2010/main" val="3425014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0275-B4F8-941D-4645-1E61CE6A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Transformer encoder -  decoder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1C697-6B6F-88BB-FA02-7A9DF02EE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206" y="1825625"/>
            <a:ext cx="673059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</a:t>
            </a:r>
            <a:r>
              <a:rPr lang="en-US" altLang="zh-CN" dirty="0"/>
              <a:t>or example: translation</a:t>
            </a:r>
            <a:endParaRPr lang="en-US" dirty="0"/>
          </a:p>
          <a:p>
            <a:r>
              <a:rPr lang="en-US" sz="2000" dirty="0"/>
              <a:t>Input: “Cats like eating fish.”</a:t>
            </a:r>
          </a:p>
          <a:p>
            <a:endParaRPr lang="en-US" sz="2000" dirty="0"/>
          </a:p>
          <a:p>
            <a:r>
              <a:rPr lang="en-US" sz="2000" dirty="0"/>
              <a:t>Projection: vector + position</a:t>
            </a:r>
          </a:p>
          <a:p>
            <a:r>
              <a:rPr lang="en-US" sz="2000" dirty="0"/>
              <a:t>Self-attention: find relationship</a:t>
            </a:r>
          </a:p>
          <a:p>
            <a:r>
              <a:rPr lang="en-US" sz="2000" dirty="0"/>
              <a:t>Feed-Forward: process relationship</a:t>
            </a:r>
          </a:p>
          <a:p>
            <a:endParaRPr lang="en-US" sz="2000" dirty="0"/>
          </a:p>
          <a:p>
            <a:r>
              <a:rPr lang="en-US" sz="2000" dirty="0"/>
              <a:t>Output: “</a:t>
            </a:r>
            <a:r>
              <a:rPr lang="zh-CN" altLang="en-US" sz="2000" dirty="0"/>
              <a:t>猫喜欢吃鱼。</a:t>
            </a:r>
            <a:r>
              <a:rPr lang="en-US" sz="2000" dirty="0"/>
              <a:t>”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F1BF8D-A77B-4BB5-8A3C-80C9B4682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31" y="1418089"/>
            <a:ext cx="3842975" cy="516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5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7B7710-2E9B-76D9-6F05-705A74B4637F}"/>
              </a:ext>
            </a:extLst>
          </p:cNvPr>
          <p:cNvSpPr txBox="1">
            <a:spLocks/>
          </p:cNvSpPr>
          <p:nvPr/>
        </p:nvSpPr>
        <p:spPr>
          <a:xfrm>
            <a:off x="838200" y="116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2</a:t>
            </a:r>
            <a:r>
              <a:rPr lang="en-US" altLang="zh-CN" sz="4000" b="1" dirty="0"/>
              <a:t>- </a:t>
            </a:r>
            <a:r>
              <a:rPr lang="en-US" altLang="zh-CN" sz="4000" dirty="0"/>
              <a:t>Prepare dataset workflow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D0E79-CCDF-B1E4-4649-6645B48E03F6}"/>
              </a:ext>
            </a:extLst>
          </p:cNvPr>
          <p:cNvSpPr txBox="1"/>
          <p:nvPr/>
        </p:nvSpPr>
        <p:spPr>
          <a:xfrm>
            <a:off x="96987" y="6464652"/>
            <a:ext cx="609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2"/>
              </a:rPr>
              <a:t>Data source: </a:t>
            </a:r>
            <a:r>
              <a:rPr lang="en-US" sz="1200" dirty="0" err="1">
                <a:hlinkClick r:id="rId2"/>
              </a:rPr>
              <a:t>ProteomeXchange</a:t>
            </a:r>
            <a:r>
              <a:rPr lang="en-US" sz="1200" dirty="0">
                <a:hlinkClick r:id="rId2"/>
              </a:rPr>
              <a:t> Dataset PXD010595</a:t>
            </a:r>
            <a:endParaRPr lang="en-US" sz="1200" dirty="0"/>
          </a:p>
        </p:txBody>
      </p:sp>
      <p:grpSp>
        <p:nvGrpSpPr>
          <p:cNvPr id="2107" name="Group 2106">
            <a:extLst>
              <a:ext uri="{FF2B5EF4-FFF2-40B4-BE49-F238E27FC236}">
                <a16:creationId xmlns:a16="http://schemas.microsoft.com/office/drawing/2014/main" id="{31C15672-C5AB-1C03-BB4B-AADA2B62CD08}"/>
              </a:ext>
            </a:extLst>
          </p:cNvPr>
          <p:cNvGrpSpPr/>
          <p:nvPr/>
        </p:nvGrpSpPr>
        <p:grpSpPr>
          <a:xfrm>
            <a:off x="1446212" y="1114812"/>
            <a:ext cx="8445500" cy="5259353"/>
            <a:chOff x="133350" y="1066800"/>
            <a:chExt cx="6391275" cy="52593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686EC86-A0EA-C376-72E8-D079E26F6AD5}"/>
                </a:ext>
              </a:extLst>
            </p:cNvPr>
            <p:cNvSpPr/>
            <p:nvPr/>
          </p:nvSpPr>
          <p:spPr>
            <a:xfrm>
              <a:off x="2738003" y="1262321"/>
              <a:ext cx="3357997" cy="628394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 Raw MS data</a:t>
              </a:r>
            </a:p>
            <a:p>
              <a:pPr algn="ctr"/>
              <a:r>
                <a:rPr lang="en-US" sz="1400" dirty="0"/>
                <a:t>( .raw files) 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FBF2B12-2FBA-2E6E-7FEB-592E6A956CF5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>
              <a:off x="4417002" y="1890715"/>
              <a:ext cx="0" cy="232082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4E3D603-BFE7-06E6-96E3-8DE2543EDB29}"/>
                </a:ext>
              </a:extLst>
            </p:cNvPr>
            <p:cNvSpPr/>
            <p:nvPr/>
          </p:nvSpPr>
          <p:spPr>
            <a:xfrm>
              <a:off x="2738003" y="2122797"/>
              <a:ext cx="3357997" cy="60445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2. </a:t>
              </a:r>
              <a:r>
                <a:rPr lang="en-US" dirty="0" err="1"/>
                <a:t>MaxQuant</a:t>
              </a:r>
              <a:r>
                <a:rPr lang="en-US" dirty="0"/>
                <a:t> database search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55B9BF6-112D-6088-9035-B86125606662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 flipV="1">
              <a:off x="2471849" y="2425025"/>
              <a:ext cx="266154" cy="5449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A90B266-1CBC-B20F-8A0A-9751528FCFAF}"/>
                </a:ext>
              </a:extLst>
            </p:cNvPr>
            <p:cNvSpPr/>
            <p:nvPr/>
          </p:nvSpPr>
          <p:spPr>
            <a:xfrm>
              <a:off x="213728" y="2138312"/>
              <a:ext cx="2258121" cy="58432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Select</a:t>
              </a:r>
              <a:r>
                <a:rPr lang="en-US" altLang="zh-CN" sz="1400" dirty="0"/>
                <a:t> and download the right database (in </a:t>
              </a:r>
              <a:r>
                <a:rPr lang="en-US" altLang="zh-CN" sz="1400" dirty="0" err="1"/>
                <a:t>UniProt</a:t>
              </a:r>
              <a:r>
                <a:rPr lang="en-US" altLang="zh-CN" sz="1400" dirty="0"/>
                <a:t>)</a:t>
              </a:r>
              <a:endParaRPr lang="en-US" sz="1400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904A160-8701-0A34-A5E2-9E316201CC53}"/>
                </a:ext>
              </a:extLst>
            </p:cNvPr>
            <p:cNvSpPr/>
            <p:nvPr/>
          </p:nvSpPr>
          <p:spPr>
            <a:xfrm>
              <a:off x="2737999" y="2959334"/>
              <a:ext cx="3358001" cy="836537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3. Filter reliable data</a:t>
              </a:r>
            </a:p>
            <a:p>
              <a:pPr algn="ctr"/>
              <a:r>
                <a:rPr lang="en-US" sz="1400" dirty="0"/>
                <a:t>High-confidence PSM Filtering</a:t>
              </a:r>
            </a:p>
            <a:p>
              <a:pPr algn="ctr"/>
              <a:r>
                <a:rPr lang="en-US" sz="1400" dirty="0"/>
                <a:t>(PEP ≤ 0.02, Score ≥ 60, remove noise)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F208F7D-3AA8-0DD9-FBE6-117A94BE24EC}"/>
                </a:ext>
              </a:extLst>
            </p:cNvPr>
            <p:cNvCxnSpPr>
              <a:cxnSpLocks/>
              <a:stCxn id="10" idx="2"/>
              <a:endCxn id="19" idx="0"/>
            </p:cNvCxnSpPr>
            <p:nvPr/>
          </p:nvCxnSpPr>
          <p:spPr>
            <a:xfrm flipH="1">
              <a:off x="4417000" y="2727252"/>
              <a:ext cx="2" cy="232082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B588499-F9C3-577B-25D3-D05435386C74}"/>
                </a:ext>
              </a:extLst>
            </p:cNvPr>
            <p:cNvCxnSpPr>
              <a:cxnSpLocks/>
              <a:stCxn id="19" idx="2"/>
              <a:endCxn id="45" idx="0"/>
            </p:cNvCxnSpPr>
            <p:nvPr/>
          </p:nvCxnSpPr>
          <p:spPr>
            <a:xfrm>
              <a:off x="4417000" y="3795871"/>
              <a:ext cx="0" cy="34552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A7DDDFC-54AE-B550-76FD-11F3DDACA913}"/>
                </a:ext>
              </a:extLst>
            </p:cNvPr>
            <p:cNvSpPr/>
            <p:nvPr/>
          </p:nvSpPr>
          <p:spPr>
            <a:xfrm>
              <a:off x="2737999" y="4141392"/>
              <a:ext cx="3358001" cy="83653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4. Build </a:t>
              </a:r>
              <a:r>
                <a:rPr lang="en-US" dirty="0" err="1"/>
                <a:t>InstaNovo</a:t>
              </a:r>
              <a:r>
                <a:rPr lang="en-US" dirty="0"/>
                <a:t> training table</a:t>
              </a:r>
            </a:p>
            <a:p>
              <a:pPr algn="ctr"/>
              <a:r>
                <a:rPr lang="en-US" sz="1400" dirty="0"/>
                <a:t>(link Peptide </a:t>
              </a:r>
              <a:r>
                <a:rPr lang="en-US" altLang="zh-CN" sz="1400" dirty="0"/>
                <a:t>sequence</a:t>
              </a:r>
              <a:r>
                <a:rPr lang="en-US" sz="1400" dirty="0"/>
                <a:t> + scan number </a:t>
              </a:r>
            </a:p>
            <a:p>
              <a:pPr algn="ctr"/>
              <a:r>
                <a:rPr lang="en-US" sz="1400" dirty="0"/>
                <a:t>+ spectrum information)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4CF7410-9AF7-EB70-7794-E58EBB3681E2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2471849" y="3986865"/>
              <a:ext cx="1945151" cy="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571A240-F4F0-96D6-EB36-A22FF4FFA83C}"/>
                </a:ext>
              </a:extLst>
            </p:cNvPr>
            <p:cNvSpPr/>
            <p:nvPr/>
          </p:nvSpPr>
          <p:spPr>
            <a:xfrm>
              <a:off x="213730" y="3694703"/>
              <a:ext cx="2258119" cy="58432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Spectrum extraction </a:t>
              </a:r>
            </a:p>
            <a:p>
              <a:pPr algn="ctr"/>
              <a:r>
                <a:rPr lang="en-US" sz="1400" dirty="0"/>
                <a:t>(.raw-derived .</a:t>
              </a:r>
              <a:r>
                <a:rPr lang="en-US" sz="1400" dirty="0" err="1"/>
                <a:t>mgf</a:t>
              </a:r>
              <a:r>
                <a:rPr lang="en-US" sz="1400" dirty="0"/>
                <a:t> → filtered .</a:t>
              </a:r>
              <a:r>
                <a:rPr lang="en-US" sz="1400" dirty="0" err="1"/>
                <a:t>mgf</a:t>
              </a:r>
              <a:r>
                <a:rPr lang="en-US" sz="1400" dirty="0"/>
                <a:t>)</a:t>
              </a:r>
            </a:p>
          </p:txBody>
        </p:sp>
        <p:cxnSp>
          <p:nvCxnSpPr>
            <p:cNvPr id="2062" name="Straight Arrow Connector 2061">
              <a:extLst>
                <a:ext uri="{FF2B5EF4-FFF2-40B4-BE49-F238E27FC236}">
                  <a16:creationId xmlns:a16="http://schemas.microsoft.com/office/drawing/2014/main" id="{43905B33-CCDD-ADD6-7D39-40E34CAFF343}"/>
                </a:ext>
              </a:extLst>
            </p:cNvPr>
            <p:cNvCxnSpPr>
              <a:cxnSpLocks/>
              <a:stCxn id="45" idx="2"/>
              <a:endCxn id="2065" idx="0"/>
            </p:cNvCxnSpPr>
            <p:nvPr/>
          </p:nvCxnSpPr>
          <p:spPr>
            <a:xfrm flipH="1">
              <a:off x="4416999" y="4977929"/>
              <a:ext cx="1" cy="309427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5" name="Rectangle: Rounded Corners 2064">
              <a:extLst>
                <a:ext uri="{FF2B5EF4-FFF2-40B4-BE49-F238E27FC236}">
                  <a16:creationId xmlns:a16="http://schemas.microsoft.com/office/drawing/2014/main" id="{27DA410E-CEA0-7319-23B7-BA538C30D0B2}"/>
                </a:ext>
              </a:extLst>
            </p:cNvPr>
            <p:cNvSpPr/>
            <p:nvPr/>
          </p:nvSpPr>
          <p:spPr>
            <a:xfrm>
              <a:off x="2694106" y="5287356"/>
              <a:ext cx="3445785" cy="83653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5. Split and transfer format for the database </a:t>
              </a:r>
            </a:p>
            <a:p>
              <a:pPr algn="ctr"/>
              <a:r>
                <a:rPr lang="en-US" sz="1400" dirty="0"/>
                <a:t>(train 70% / validation 15% / test 15%)</a:t>
              </a:r>
            </a:p>
          </p:txBody>
        </p:sp>
        <p:sp>
          <p:nvSpPr>
            <p:cNvPr id="2106" name="Rectangle 2105">
              <a:extLst>
                <a:ext uri="{FF2B5EF4-FFF2-40B4-BE49-F238E27FC236}">
                  <a16:creationId xmlns:a16="http://schemas.microsoft.com/office/drawing/2014/main" id="{294A8EA8-D6D6-5259-D7BC-386D032EE4A5}"/>
                </a:ext>
              </a:extLst>
            </p:cNvPr>
            <p:cNvSpPr/>
            <p:nvPr/>
          </p:nvSpPr>
          <p:spPr>
            <a:xfrm>
              <a:off x="133350" y="1066800"/>
              <a:ext cx="6391275" cy="5259353"/>
            </a:xfrm>
            <a:prstGeom prst="rect">
              <a:avLst/>
            </a:prstGeom>
            <a:noFill/>
            <a:ln w="9525">
              <a:solidFill>
                <a:srgbClr val="A5A5A5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304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64F0D-3CFC-872E-D7CB-6A1B9421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9" r="-42"/>
          <a:stretch>
            <a:fillRect/>
          </a:stretch>
        </p:blipFill>
        <p:spPr>
          <a:xfrm>
            <a:off x="378188" y="2862734"/>
            <a:ext cx="1696171" cy="24406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BDEB87-25B7-6D41-A6A2-9699F2C6FE55}"/>
              </a:ext>
            </a:extLst>
          </p:cNvPr>
          <p:cNvSpPr txBox="1"/>
          <p:nvPr/>
        </p:nvSpPr>
        <p:spPr>
          <a:xfrm>
            <a:off x="183740" y="1697731"/>
            <a:ext cx="22400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Raw MS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Data size:</a:t>
            </a:r>
            <a:r>
              <a:rPr lang="zh-CN" altLang="en-US" sz="1200" b="1" dirty="0"/>
              <a:t> </a:t>
            </a:r>
            <a:r>
              <a:rPr lang="en-US" sz="1200" dirty="0"/>
              <a:t>20 </a:t>
            </a:r>
            <a:r>
              <a:rPr lang="en-US" altLang="zh-CN" sz="1200" dirty="0"/>
              <a:t>raw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Samples collected over three months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/>
              <a:t>Two urban locations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636BE-8451-BA66-D28D-DA3D24A16CFD}"/>
              </a:ext>
            </a:extLst>
          </p:cNvPr>
          <p:cNvSpPr txBox="1"/>
          <p:nvPr/>
        </p:nvSpPr>
        <p:spPr>
          <a:xfrm>
            <a:off x="2355117" y="1697731"/>
            <a:ext cx="250955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Data</a:t>
            </a:r>
            <a:r>
              <a:rPr lang="en-US" altLang="zh-CN" sz="1600" b="1" dirty="0"/>
              <a:t>base</a:t>
            </a:r>
            <a:r>
              <a:rPr lang="en-US" sz="1600" b="1" dirty="0"/>
              <a:t> </a:t>
            </a:r>
            <a:r>
              <a:rPr lang="en-US" altLang="zh-CN" sz="1600" b="1" dirty="0"/>
              <a:t>search</a:t>
            </a:r>
            <a:r>
              <a:rPr lang="en-US" sz="16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dirty="0"/>
              <a:t>Database coverage: </a:t>
            </a:r>
          </a:p>
          <a:p>
            <a:r>
              <a:rPr lang="en-US" sz="1200" dirty="0"/>
              <a:t>12 bacterial orders </a:t>
            </a:r>
          </a:p>
          <a:p>
            <a:r>
              <a:rPr lang="en-US" sz="1200" dirty="0"/>
              <a:t>35 representative species </a:t>
            </a:r>
          </a:p>
          <a:p>
            <a:r>
              <a:rPr lang="en-US" altLang="zh-CN" sz="1200" dirty="0"/>
              <a:t>144,457 protein sequences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92E544-8D9D-A8E0-691C-A44CBFED1A08}"/>
              </a:ext>
            </a:extLst>
          </p:cNvPr>
          <p:cNvSpPr txBox="1"/>
          <p:nvPr/>
        </p:nvSpPr>
        <p:spPr>
          <a:xfrm>
            <a:off x="4491358" y="1697731"/>
            <a:ext cx="260035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Filter reliable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Results:</a:t>
            </a:r>
          </a:p>
          <a:p>
            <a:r>
              <a:rPr lang="en-US" sz="1200" dirty="0"/>
              <a:t>4,123 </a:t>
            </a:r>
            <a:r>
              <a:rPr lang="en-US" altLang="zh-CN" sz="1200" dirty="0"/>
              <a:t>peptide-spectrum matches </a:t>
            </a:r>
          </a:p>
          <a:p>
            <a:r>
              <a:rPr lang="en-US" sz="1200" dirty="0"/>
              <a:t>965 </a:t>
            </a:r>
            <a:r>
              <a:rPr lang="en-US" altLang="zh-CN" sz="1200" dirty="0"/>
              <a:t>final </a:t>
            </a:r>
            <a:r>
              <a:rPr lang="en-US" sz="1200" dirty="0"/>
              <a:t>high-confidence </a:t>
            </a:r>
            <a:r>
              <a:rPr lang="en-US" altLang="zh-CN" sz="1200" dirty="0"/>
              <a:t>spectra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1F3C25-7921-ABB2-20B5-A2C2708D7524}"/>
              </a:ext>
            </a:extLst>
          </p:cNvPr>
          <p:cNvSpPr txBox="1"/>
          <p:nvPr/>
        </p:nvSpPr>
        <p:spPr>
          <a:xfrm>
            <a:off x="7000914" y="1697731"/>
            <a:ext cx="265109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4. Build the training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Link each peptide label with its MS/MS spectrum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Output: </a:t>
            </a:r>
            <a:r>
              <a:rPr lang="en-US" sz="1200" dirty="0" err="1"/>
              <a:t>InstaNovo</a:t>
            </a:r>
            <a:r>
              <a:rPr lang="en-US" sz="1200" dirty="0"/>
              <a:t> training table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89A17E-B483-F0FF-CB04-F29F370B63F9}"/>
              </a:ext>
            </a:extLst>
          </p:cNvPr>
          <p:cNvGrpSpPr/>
          <p:nvPr/>
        </p:nvGrpSpPr>
        <p:grpSpPr>
          <a:xfrm>
            <a:off x="4561865" y="2862733"/>
            <a:ext cx="2366592" cy="2440635"/>
            <a:chOff x="5312093" y="2632073"/>
            <a:chExt cx="2641383" cy="21696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1F3E4D-81C3-0361-C267-1435AED99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2093" y="2632073"/>
              <a:ext cx="1569292" cy="214618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CAB064F-A42D-DEDF-164B-1A4F5644B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0955" y="2632073"/>
              <a:ext cx="1372521" cy="2169606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2D6274D-4EDB-5DD8-AF11-B86E9D05C5A9}"/>
              </a:ext>
            </a:extLst>
          </p:cNvPr>
          <p:cNvSpPr txBox="1"/>
          <p:nvPr/>
        </p:nvSpPr>
        <p:spPr>
          <a:xfrm>
            <a:off x="9516986" y="1697731"/>
            <a:ext cx="270253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5. Split and transfer format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altLang="zh-CN" sz="1200" dirty="0"/>
              <a:t>Train / validation / test</a:t>
            </a:r>
            <a:r>
              <a:rPr lang="en-US" altLang="zh-CN" sz="1200" dirty="0"/>
              <a:t>:</a:t>
            </a:r>
            <a:r>
              <a:rPr lang="nb-NO" altLang="zh-CN" sz="1200" dirty="0"/>
              <a:t> 676 / 144 / 146 spectra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altLang="zh-CN" sz="1200" dirty="0"/>
              <a:t>Output: parquet dataset for training</a:t>
            </a:r>
            <a:endParaRPr lang="en-US" sz="12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170B47C-9FA2-516A-41FC-16414BCD3EBA}"/>
              </a:ext>
            </a:extLst>
          </p:cNvPr>
          <p:cNvGrpSpPr/>
          <p:nvPr/>
        </p:nvGrpSpPr>
        <p:grpSpPr>
          <a:xfrm>
            <a:off x="2405776" y="2862733"/>
            <a:ext cx="1870392" cy="2440635"/>
            <a:chOff x="2561908" y="1124525"/>
            <a:chExt cx="1870392" cy="221123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6F1182-B634-6078-BD20-BDDDCB5EC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909" y="1124525"/>
              <a:ext cx="1870391" cy="221123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9A1596D-BDA7-7D2C-32B8-6D7826C0E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7746" b="79227"/>
            <a:stretch>
              <a:fillRect/>
            </a:stretch>
          </p:blipFill>
          <p:spPr>
            <a:xfrm>
              <a:off x="2561908" y="2966227"/>
              <a:ext cx="1682350" cy="27970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DA4409B-DBD5-7701-E551-00FDF22F65BE}"/>
              </a:ext>
            </a:extLst>
          </p:cNvPr>
          <p:cNvGrpSpPr/>
          <p:nvPr/>
        </p:nvGrpSpPr>
        <p:grpSpPr>
          <a:xfrm>
            <a:off x="7113795" y="2862733"/>
            <a:ext cx="2339135" cy="2440635"/>
            <a:chOff x="7354207" y="2862733"/>
            <a:chExt cx="2216533" cy="2440635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ADBEE69-59DF-FC1C-4FF7-9FC85E939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54207" y="2862733"/>
              <a:ext cx="2216533" cy="244063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ACF95A5-F585-183F-AB8E-DE76520BF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2206" r="34861" b="62621"/>
            <a:stretch>
              <a:fillRect/>
            </a:stretch>
          </p:blipFill>
          <p:spPr>
            <a:xfrm>
              <a:off x="7354207" y="4930815"/>
              <a:ext cx="2063992" cy="229453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80E0331-58A8-7D23-5396-6EBF29C3A6FD}"/>
              </a:ext>
            </a:extLst>
          </p:cNvPr>
          <p:cNvGrpSpPr/>
          <p:nvPr/>
        </p:nvGrpSpPr>
        <p:grpSpPr>
          <a:xfrm>
            <a:off x="9706170" y="2862733"/>
            <a:ext cx="2240038" cy="2472237"/>
            <a:chOff x="9796461" y="2862733"/>
            <a:chExt cx="2240038" cy="2472237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00C9FDD-CDF2-D716-856F-9FBCE955A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796461" y="2862733"/>
              <a:ext cx="2240038" cy="2472237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F39B95A-8C98-3B6F-0362-ECB6CDD82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5350" r="4108"/>
            <a:stretch>
              <a:fillRect/>
            </a:stretch>
          </p:blipFill>
          <p:spPr>
            <a:xfrm>
              <a:off x="9846868" y="4705350"/>
              <a:ext cx="2013248" cy="571672"/>
            </a:xfrm>
            <a:prstGeom prst="rect">
              <a:avLst/>
            </a:prstGeom>
          </p:spPr>
        </p:pic>
      </p:grpSp>
      <p:cxnSp>
        <p:nvCxnSpPr>
          <p:cNvPr id="2049" name="Straight Connector 2048">
            <a:extLst>
              <a:ext uri="{FF2B5EF4-FFF2-40B4-BE49-F238E27FC236}">
                <a16:creationId xmlns:a16="http://schemas.microsoft.com/office/drawing/2014/main" id="{BC76F9F1-B785-E27F-CAF1-9BC92F4FE532}"/>
              </a:ext>
            </a:extLst>
          </p:cNvPr>
          <p:cNvCxnSpPr>
            <a:cxnSpLocks/>
          </p:cNvCxnSpPr>
          <p:nvPr/>
        </p:nvCxnSpPr>
        <p:spPr>
          <a:xfrm>
            <a:off x="2280889" y="1517650"/>
            <a:ext cx="19191" cy="44577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1" name="Straight Connector 2050">
            <a:extLst>
              <a:ext uri="{FF2B5EF4-FFF2-40B4-BE49-F238E27FC236}">
                <a16:creationId xmlns:a16="http://schemas.microsoft.com/office/drawing/2014/main" id="{C854586D-2F8B-641C-F8E8-31E10D0CF932}"/>
              </a:ext>
            </a:extLst>
          </p:cNvPr>
          <p:cNvCxnSpPr>
            <a:cxnSpLocks/>
          </p:cNvCxnSpPr>
          <p:nvPr/>
        </p:nvCxnSpPr>
        <p:spPr>
          <a:xfrm>
            <a:off x="4444648" y="1517650"/>
            <a:ext cx="19191" cy="44577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2" name="Straight Connector 2051">
            <a:extLst>
              <a:ext uri="{FF2B5EF4-FFF2-40B4-BE49-F238E27FC236}">
                <a16:creationId xmlns:a16="http://schemas.microsoft.com/office/drawing/2014/main" id="{BF6FB475-D0D2-ABD2-F50D-7A071249FEEB}"/>
              </a:ext>
            </a:extLst>
          </p:cNvPr>
          <p:cNvCxnSpPr>
            <a:cxnSpLocks/>
          </p:cNvCxnSpPr>
          <p:nvPr/>
        </p:nvCxnSpPr>
        <p:spPr>
          <a:xfrm>
            <a:off x="6980817" y="1517650"/>
            <a:ext cx="19191" cy="44577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3" name="Straight Connector 2052">
            <a:extLst>
              <a:ext uri="{FF2B5EF4-FFF2-40B4-BE49-F238E27FC236}">
                <a16:creationId xmlns:a16="http://schemas.microsoft.com/office/drawing/2014/main" id="{9FA4C7B5-5F97-4801-75D7-E83DAD816AEF}"/>
              </a:ext>
            </a:extLst>
          </p:cNvPr>
          <p:cNvCxnSpPr>
            <a:cxnSpLocks/>
          </p:cNvCxnSpPr>
          <p:nvPr/>
        </p:nvCxnSpPr>
        <p:spPr>
          <a:xfrm>
            <a:off x="9545673" y="1517650"/>
            <a:ext cx="19191" cy="445770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7" name="Title 1">
            <a:extLst>
              <a:ext uri="{FF2B5EF4-FFF2-40B4-BE49-F238E27FC236}">
                <a16:creationId xmlns:a16="http://schemas.microsoft.com/office/drawing/2014/main" id="{4DAC2C79-905F-571C-FED1-523D1C1B6D76}"/>
              </a:ext>
            </a:extLst>
          </p:cNvPr>
          <p:cNvSpPr txBox="1">
            <a:spLocks/>
          </p:cNvSpPr>
          <p:nvPr/>
        </p:nvSpPr>
        <p:spPr>
          <a:xfrm>
            <a:off x="838200" y="116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2</a:t>
            </a:r>
            <a:r>
              <a:rPr lang="en-US" altLang="zh-CN" sz="4000" b="1" dirty="0"/>
              <a:t>- </a:t>
            </a:r>
            <a:r>
              <a:rPr lang="en-US" altLang="zh-CN" sz="4000" dirty="0"/>
              <a:t>Prepare dataset overview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01069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21E1-22F8-D963-12DF-42AED6A9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Title 1">
            <a:extLst>
              <a:ext uri="{FF2B5EF4-FFF2-40B4-BE49-F238E27FC236}">
                <a16:creationId xmlns:a16="http://schemas.microsoft.com/office/drawing/2014/main" id="{92042A1B-5EB4-A165-9EC3-49E976B66715}"/>
              </a:ext>
            </a:extLst>
          </p:cNvPr>
          <p:cNvSpPr txBox="1">
            <a:spLocks/>
          </p:cNvSpPr>
          <p:nvPr/>
        </p:nvSpPr>
        <p:spPr>
          <a:xfrm>
            <a:off x="838200" y="116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3</a:t>
            </a:r>
            <a:r>
              <a:rPr lang="en-US" altLang="zh-CN" sz="4000" b="1" dirty="0"/>
              <a:t>- </a:t>
            </a:r>
            <a:r>
              <a:rPr lang="en-US" sz="4000" dirty="0"/>
              <a:t>Fine-Tuning of </a:t>
            </a:r>
            <a:r>
              <a:rPr lang="en-US" sz="4000" dirty="0" err="1"/>
              <a:t>InstaNovo</a:t>
            </a:r>
            <a:r>
              <a:rPr lang="en-US" sz="4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86C97-0E4F-1BA0-DF6F-2E28748A1EED}"/>
              </a:ext>
            </a:extLst>
          </p:cNvPr>
          <p:cNvSpPr txBox="1"/>
          <p:nvPr/>
        </p:nvSpPr>
        <p:spPr>
          <a:xfrm>
            <a:off x="127000" y="63050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Getting started with </a:t>
            </a:r>
            <a:r>
              <a:rPr lang="en-US" dirty="0" err="1">
                <a:hlinkClick r:id="rId2"/>
              </a:rPr>
              <a:t>InstaNovo</a:t>
            </a:r>
            <a:r>
              <a:rPr lang="en-US" dirty="0">
                <a:hlinkClick r:id="rId2"/>
              </a:rPr>
              <a:t> - </a:t>
            </a:r>
            <a:r>
              <a:rPr lang="en-US" dirty="0" err="1">
                <a:hlinkClick r:id="rId2"/>
              </a:rPr>
              <a:t>InstaNovo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DD88A-1C67-B96A-2B84-A3401CD9C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658237"/>
            <a:ext cx="4216369" cy="4612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F4F14E-1C56-D3D3-72CB-77EC63767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1" y="2439298"/>
            <a:ext cx="7664449" cy="27604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86B889-26C5-3D66-E8B7-CEC1E9B72ACA}"/>
              </a:ext>
            </a:extLst>
          </p:cNvPr>
          <p:cNvSpPr txBox="1"/>
          <p:nvPr/>
        </p:nvSpPr>
        <p:spPr>
          <a:xfrm>
            <a:off x="4295774" y="1869470"/>
            <a:ext cx="4938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Run </a:t>
            </a:r>
            <a:r>
              <a:rPr lang="en-US" sz="2400" b="1" dirty="0" err="1"/>
              <a:t>InstaNovo</a:t>
            </a:r>
            <a:r>
              <a:rPr lang="en-US" sz="2400" b="1" dirty="0"/>
              <a:t> fine-tuning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374AC4-C34C-7487-426A-FDA6A4FCE9FF}"/>
              </a:ext>
            </a:extLst>
          </p:cNvPr>
          <p:cNvSpPr/>
          <p:nvPr/>
        </p:nvSpPr>
        <p:spPr>
          <a:xfrm>
            <a:off x="4710112" y="3472763"/>
            <a:ext cx="5414963" cy="18557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234A6-11C2-EB67-B247-8F1F104E62DE}"/>
              </a:ext>
            </a:extLst>
          </p:cNvPr>
          <p:cNvSpPr txBox="1"/>
          <p:nvPr/>
        </p:nvSpPr>
        <p:spPr>
          <a:xfrm>
            <a:off x="8860663" y="3658336"/>
            <a:ext cx="2643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FF0000"/>
                </a:solidFill>
              </a:rPr>
              <a:t>i</a:t>
            </a:r>
            <a:r>
              <a:rPr lang="en-US" sz="1050" dirty="0">
                <a:solidFill>
                  <a:srgbClr val="FF0000"/>
                </a:solidFill>
              </a:rPr>
              <a:t>nitialize from pretrained model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D07873-BD17-2E4A-C526-55D8F804CE73}"/>
              </a:ext>
            </a:extLst>
          </p:cNvPr>
          <p:cNvSpPr/>
          <p:nvPr/>
        </p:nvSpPr>
        <p:spPr>
          <a:xfrm>
            <a:off x="4672013" y="3692860"/>
            <a:ext cx="1685925" cy="131342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FAE83-604A-4E71-7B73-CF45A270AAA4}"/>
              </a:ext>
            </a:extLst>
          </p:cNvPr>
          <p:cNvSpPr txBox="1"/>
          <p:nvPr/>
        </p:nvSpPr>
        <p:spPr>
          <a:xfrm>
            <a:off x="6415120" y="4215468"/>
            <a:ext cx="2643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hyperparameter settings</a:t>
            </a:r>
          </a:p>
        </p:txBody>
      </p:sp>
    </p:spTree>
    <p:extLst>
      <p:ext uri="{BB962C8B-B14F-4D97-AF65-F5344CB8AC3E}">
        <p14:creationId xmlns:p14="http://schemas.microsoft.com/office/powerpoint/2010/main" val="57832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FECB2F-32E6-B683-6D14-3E9C8FA26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3</a:t>
            </a:r>
            <a:r>
              <a:rPr lang="en-US" altLang="zh-CN" sz="4000" b="1" dirty="0"/>
              <a:t>- </a:t>
            </a:r>
            <a:r>
              <a:rPr lang="en-US" sz="4000" dirty="0"/>
              <a:t>Fine-Tuning of </a:t>
            </a:r>
            <a:r>
              <a:rPr lang="en-US" sz="4000" dirty="0" err="1"/>
              <a:t>InstaNovo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2ECDD-6036-74E9-EC39-420068F816EB}"/>
              </a:ext>
            </a:extLst>
          </p:cNvPr>
          <p:cNvSpPr txBox="1"/>
          <p:nvPr/>
        </p:nvSpPr>
        <p:spPr>
          <a:xfrm>
            <a:off x="1052513" y="1107524"/>
            <a:ext cx="104013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/>
          </a:p>
          <a:p>
            <a:r>
              <a:rPr lang="en-US" sz="2400" b="1" dirty="0"/>
              <a:t>2. Try to modify the model for better 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Used conservative hyperparameters: </a:t>
            </a:r>
            <a:r>
              <a:rPr lang="en-US" sz="2000" dirty="0"/>
              <a:t>learning rate, training steps, batch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Used layer freezing</a:t>
            </a:r>
            <a:r>
              <a:rPr lang="en-US" sz="2000" dirty="0"/>
              <a:t>: Froze all model parameters without </a:t>
            </a:r>
            <a:r>
              <a:rPr lang="en-US" sz="2000" dirty="0" err="1"/>
              <a:t>peak_encoder</a:t>
            </a:r>
            <a:r>
              <a:rPr lang="en-US" sz="2000" dirty="0"/>
              <a:t> only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9F96DA-E5B6-5E7F-4E78-718D4D2C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2556350"/>
            <a:ext cx="9520238" cy="327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76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67DB0ED-CD51-D3DA-1ABC-C27C57C18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123851"/>
              </p:ext>
            </p:extLst>
          </p:nvPr>
        </p:nvGraphicFramePr>
        <p:xfrm>
          <a:off x="542925" y="1879897"/>
          <a:ext cx="10929938" cy="18123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2776">
                  <a:extLst>
                    <a:ext uri="{9D8B030D-6E8A-4147-A177-3AD203B41FA5}">
                      <a16:colId xmlns:a16="http://schemas.microsoft.com/office/drawing/2014/main" val="3214983579"/>
                    </a:ext>
                  </a:extLst>
                </a:gridCol>
                <a:gridCol w="1186549">
                  <a:extLst>
                    <a:ext uri="{9D8B030D-6E8A-4147-A177-3AD203B41FA5}">
                      <a16:colId xmlns:a16="http://schemas.microsoft.com/office/drawing/2014/main" val="1418020926"/>
                    </a:ext>
                  </a:extLst>
                </a:gridCol>
                <a:gridCol w="1829640">
                  <a:extLst>
                    <a:ext uri="{9D8B030D-6E8A-4147-A177-3AD203B41FA5}">
                      <a16:colId xmlns:a16="http://schemas.microsoft.com/office/drawing/2014/main" val="2670377137"/>
                    </a:ext>
                  </a:extLst>
                </a:gridCol>
                <a:gridCol w="1449219">
                  <a:extLst>
                    <a:ext uri="{9D8B030D-6E8A-4147-A177-3AD203B41FA5}">
                      <a16:colId xmlns:a16="http://schemas.microsoft.com/office/drawing/2014/main" val="3031886760"/>
                    </a:ext>
                  </a:extLst>
                </a:gridCol>
                <a:gridCol w="1983618">
                  <a:extLst>
                    <a:ext uri="{9D8B030D-6E8A-4147-A177-3AD203B41FA5}">
                      <a16:colId xmlns:a16="http://schemas.microsoft.com/office/drawing/2014/main" val="964672905"/>
                    </a:ext>
                  </a:extLst>
                </a:gridCol>
                <a:gridCol w="2438136">
                  <a:extLst>
                    <a:ext uri="{9D8B030D-6E8A-4147-A177-3AD203B41FA5}">
                      <a16:colId xmlns:a16="http://schemas.microsoft.com/office/drawing/2014/main" val="2667100030"/>
                    </a:ext>
                  </a:extLst>
                </a:gridCol>
              </a:tblGrid>
              <a:tr h="620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spectra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|</a:t>
                      </a: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delta_mass_ppm</a:t>
                      </a: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| &lt;= 20 (counts)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/>
                        <a:t>Amino acid precision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/>
                        <a:t>Peptide precision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Modification-containing predictions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64688072"/>
                  </a:ext>
                </a:extLst>
              </a:tr>
              <a:tr h="5714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Official </a:t>
                      </a: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InstaNovo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116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64%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41%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44592983"/>
                  </a:ext>
                </a:extLst>
              </a:tr>
              <a:tr h="6204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Fine-tuned model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0.4%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145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9576700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8A0F2251-AD0D-3351-9E69-CF243701D960}"/>
              </a:ext>
            </a:extLst>
          </p:cNvPr>
          <p:cNvSpPr txBox="1">
            <a:spLocks/>
          </p:cNvSpPr>
          <p:nvPr/>
        </p:nvSpPr>
        <p:spPr>
          <a:xfrm>
            <a:off x="838200" y="1163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Step 3</a:t>
            </a:r>
            <a:r>
              <a:rPr lang="en-US" altLang="zh-CN" sz="4000" b="1" dirty="0"/>
              <a:t>- </a:t>
            </a:r>
            <a:r>
              <a:rPr lang="en-US" sz="4000" dirty="0"/>
              <a:t>Evaluation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8B7B14C-A4F9-77CE-3ABB-7FC4B77BB8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043492"/>
              </p:ext>
            </p:extLst>
          </p:nvPr>
        </p:nvGraphicFramePr>
        <p:xfrm>
          <a:off x="542926" y="4333874"/>
          <a:ext cx="10929937" cy="16335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971674">
                  <a:extLst>
                    <a:ext uri="{9D8B030D-6E8A-4147-A177-3AD203B41FA5}">
                      <a16:colId xmlns:a16="http://schemas.microsoft.com/office/drawing/2014/main" val="265881782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188693783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155727462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461327402"/>
                    </a:ext>
                  </a:extLst>
                </a:gridCol>
                <a:gridCol w="2605088">
                  <a:extLst>
                    <a:ext uri="{9D8B030D-6E8A-4147-A177-3AD203B41FA5}">
                      <a16:colId xmlns:a16="http://schemas.microsoft.com/office/drawing/2014/main" val="3953383891"/>
                    </a:ext>
                  </a:extLst>
                </a:gridCol>
              </a:tblGrid>
              <a:tr h="4414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target_sequence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official_prediction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official_delta_mass_ppm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finetuned_prediction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finetuned_delta_mass_ppm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3887669303"/>
                  </a:ext>
                </a:extLst>
              </a:tr>
              <a:tr h="238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AAQYVAAHP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GEV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CPAK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AAQYVAAHP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PST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CPAK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0.206188941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TTTTTTTTT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12374.13323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2783742096"/>
                  </a:ext>
                </a:extLst>
              </a:tr>
              <a:tr h="238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AAVEEGVVP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GGGVALVR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AAVEEGVVP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VLEVLR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16.24331597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TTTTTGTTT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34618.34436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39839290"/>
                  </a:ext>
                </a:extLst>
              </a:tr>
              <a:tr h="238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FL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FNNGYAD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EVVR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LF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FNNGYAD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LQNK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0.09528558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STTTTSSSSSST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6111.032059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1319617480"/>
                  </a:ext>
                </a:extLst>
              </a:tr>
              <a:tr h="238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VALSGLS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I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AEYFR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VALSGLS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L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AEYFR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0.956967187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TTTTTTTS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36181.73968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1253703266"/>
                  </a:ext>
                </a:extLst>
              </a:tr>
              <a:tr h="238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GVSLGSDAFFPFGDNIER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00"/>
                          </a:highlight>
                        </a:rPr>
                        <a:t>VGVTLCAFFGEDDAAVEK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1.498649031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TTTTTSTSSSSSST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16367.91555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093" marR="3093" marT="3093" marB="0" anchor="ctr"/>
                </a:tc>
                <a:extLst>
                  <a:ext uri="{0D108BD9-81ED-4DB2-BD59-A6C34878D82A}">
                    <a16:rowId xmlns:a16="http://schemas.microsoft.com/office/drawing/2014/main" val="36364292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09AF75-626D-FF59-5295-7DF770D93332}"/>
              </a:ext>
            </a:extLst>
          </p:cNvPr>
          <p:cNvSpPr txBox="1"/>
          <p:nvPr/>
        </p:nvSpPr>
        <p:spPr>
          <a:xfrm>
            <a:off x="423863" y="3743652"/>
            <a:ext cx="7181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*</a:t>
            </a:r>
            <a:r>
              <a:rPr lang="en-US" sz="1100" dirty="0" err="1"/>
              <a:t>delta_mass_ppm</a:t>
            </a:r>
            <a:r>
              <a:rPr lang="en-US" sz="1100" dirty="0"/>
              <a:t> = (predicted mass - observed precursor mass) / observed precursor mass × 1,000,000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E9FC4-8F9F-E33B-0451-694B13152D36}"/>
              </a:ext>
            </a:extLst>
          </p:cNvPr>
          <p:cNvSpPr txBox="1"/>
          <p:nvPr/>
        </p:nvSpPr>
        <p:spPr>
          <a:xfrm>
            <a:off x="6710363" y="6013234"/>
            <a:ext cx="28813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*Delete UNIMOD:21 behind each amino acid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AB76D-ED11-B361-F0B7-A1B75C29AC70}"/>
              </a:ext>
            </a:extLst>
          </p:cNvPr>
          <p:cNvSpPr txBox="1"/>
          <p:nvPr/>
        </p:nvSpPr>
        <p:spPr>
          <a:xfrm>
            <a:off x="5070785" y="6012537"/>
            <a:ext cx="1458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* Close to 0 is great </a:t>
            </a:r>
          </a:p>
        </p:txBody>
      </p:sp>
    </p:spTree>
    <p:extLst>
      <p:ext uri="{BB962C8B-B14F-4D97-AF65-F5344CB8AC3E}">
        <p14:creationId xmlns:p14="http://schemas.microsoft.com/office/powerpoint/2010/main" val="204967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B6D6-1108-AACA-7C63-2EBF255C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812CE5-96ED-9C74-2B06-04575B36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06537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fine-tuned model completed training, but it failed to generalize the right prediction. </a:t>
            </a:r>
          </a:p>
          <a:p>
            <a:r>
              <a:rPr lang="en-US" sz="2000" dirty="0"/>
              <a:t>Compared with the official model, it produced much larger precursor mass errors and excessive modification-containing predictions.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Possible reasons for poor fine-tuning performance: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Very small fine-tuning dataset compared with model size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Updating only the </a:t>
            </a:r>
            <a:r>
              <a:rPr lang="en-US" sz="1600" dirty="0" err="1"/>
              <a:t>peak_encoder</a:t>
            </a:r>
            <a:r>
              <a:rPr lang="en-US" sz="1600" dirty="0"/>
              <a:t> may still change how the model represents spectra.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Wastewater proteomics data may be different from the data used to train the original </a:t>
            </a:r>
            <a:r>
              <a:rPr lang="en-US" sz="1600" dirty="0" err="1"/>
              <a:t>InstaNovo</a:t>
            </a:r>
            <a:r>
              <a:rPr lang="en-US" sz="1600" dirty="0"/>
              <a:t> model.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Over-prediction of modification tokens such as UNIMOD:21</a:t>
            </a:r>
          </a:p>
        </p:txBody>
      </p:sp>
    </p:spTree>
    <p:extLst>
      <p:ext uri="{BB962C8B-B14F-4D97-AF65-F5344CB8AC3E}">
        <p14:creationId xmlns:p14="http://schemas.microsoft.com/office/powerpoint/2010/main" val="3849089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9ABF-264B-BB87-C529-702E3D623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4610"/>
            <a:ext cx="10515600" cy="12833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b="1" dirty="0"/>
              <a:t>Thank you &amp; question</a:t>
            </a:r>
          </a:p>
        </p:txBody>
      </p:sp>
    </p:spTree>
    <p:extLst>
      <p:ext uri="{BB962C8B-B14F-4D97-AF65-F5344CB8AC3E}">
        <p14:creationId xmlns:p14="http://schemas.microsoft.com/office/powerpoint/2010/main" val="572490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727</Words>
  <Application>Microsoft Office PowerPoint</Application>
  <PresentationFormat>Widescreen</PresentationFormat>
  <Paragraphs>181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Bacterial Fine-Tuning of InstaNovo  for Large-Scale Wastewater Proteomics </vt:lpstr>
      <vt:lpstr>1 Background and motivation</vt:lpstr>
      <vt:lpstr>PowerPoint Presentation</vt:lpstr>
      <vt:lpstr>PowerPoint Presentation</vt:lpstr>
      <vt:lpstr>Transformer encoder -  decoder</vt:lpstr>
      <vt:lpstr>PowerPoint Presentation</vt:lpstr>
      <vt:lpstr>PowerPoint Presentation</vt:lpstr>
      <vt:lpstr>PowerPoint Presentation</vt:lpstr>
      <vt:lpstr> Step 3- Fine-Tuning of InstaNovo</vt:lpstr>
      <vt:lpstr>PowerPoint Presentation</vt:lpstr>
      <vt:lpstr>3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Wenjing Yang</dc:creator>
  <cp:lastModifiedBy>Wenjing Yang</cp:lastModifiedBy>
  <cp:revision>142</cp:revision>
  <dcterms:created xsi:type="dcterms:W3CDTF">2026-03-30T04:07:43Z</dcterms:created>
  <dcterms:modified xsi:type="dcterms:W3CDTF">2026-04-29T02:43:18Z</dcterms:modified>
</cp:coreProperties>
</file>